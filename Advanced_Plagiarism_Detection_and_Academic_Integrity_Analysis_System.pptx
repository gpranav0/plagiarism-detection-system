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061b9c62c040ba" /><Relationship Type="http://schemas.openxmlformats.org/officeDocument/2006/relationships/extended-properties" Target="/docProps/app.xml" Id="Rf6ab67b7ce854b6d" /><Relationship Type="http://schemas.openxmlformats.org/officeDocument/2006/relationships/officeDocument" Target="/ppt/presentation.xml" Id="R9e264e41a23148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8f008518bb4280"/>
  </p:sldMasterIdLst>
  <p:notesMasterIdLst>
    <p:notesMasterId xmlns:r="http://schemas.openxmlformats.org/officeDocument/2006/relationships" r:id="R45cbf1f803574e25"/>
  </p:notesMasterIdLst>
  <p:sldIdLst>
    <p:sldId xmlns:r="http://schemas.openxmlformats.org/officeDocument/2006/relationships" id="256" r:id="R55c484f39cb642a6"/>
    <p:sldId xmlns:r="http://schemas.openxmlformats.org/officeDocument/2006/relationships" id="257" r:id="Rdaac9b79320748ff"/>
    <p:sldId xmlns:r="http://schemas.openxmlformats.org/officeDocument/2006/relationships" id="258" r:id="R4d3e9bc319df4618"/>
    <p:sldId xmlns:r="http://schemas.openxmlformats.org/officeDocument/2006/relationships" id="259" r:id="R73734cea05f04ea3"/>
    <p:sldId xmlns:r="http://schemas.openxmlformats.org/officeDocument/2006/relationships" id="260" r:id="R46430c7b5bf94f1d"/>
    <p:sldId xmlns:r="http://schemas.openxmlformats.org/officeDocument/2006/relationships" id="261" r:id="R6b1eb3177c2f4b28"/>
    <p:sldId xmlns:r="http://schemas.openxmlformats.org/officeDocument/2006/relationships" id="262" r:id="R05f92a9f35d64e07"/>
    <p:sldId xmlns:r="http://schemas.openxmlformats.org/officeDocument/2006/relationships" id="263" r:id="Rba3ea788be084552"/>
    <p:sldId xmlns:r="http://schemas.openxmlformats.org/officeDocument/2006/relationships" id="264" r:id="R3da7ebfdbffe4fc9"/>
    <p:sldId xmlns:r="http://schemas.openxmlformats.org/officeDocument/2006/relationships" id="265" r:id="R70c5c58c9d344c48"/>
    <p:sldId xmlns:r="http://schemas.openxmlformats.org/officeDocument/2006/relationships" id="266" r:id="R82e0179ea3294304"/>
    <p:sldId xmlns:r="http://schemas.openxmlformats.org/officeDocument/2006/relationships" id="267" r:id="R8fb3a6cb3c3849ac"/>
    <p:sldId xmlns:r="http://schemas.openxmlformats.org/officeDocument/2006/relationships" id="268" r:id="R5e2ea6c196244f0b"/>
    <p:sldId xmlns:r="http://schemas.openxmlformats.org/officeDocument/2006/relationships" id="269" r:id="R93175c0197fa4b32"/>
    <p:sldId xmlns:r="http://schemas.openxmlformats.org/officeDocument/2006/relationships" id="270" r:id="R446e5b0258074c54"/>
    <p:sldId xmlns:r="http://schemas.openxmlformats.org/officeDocument/2006/relationships" id="271" r:id="Ra26c3b02e6874624"/>
    <p:sldId xmlns:r="http://schemas.openxmlformats.org/officeDocument/2006/relationships" id="272" r:id="R9007e4900d154508"/>
    <p:sldId xmlns:r="http://schemas.openxmlformats.org/officeDocument/2006/relationships" id="273" r:id="R75f9ed18adf742aa"/>
    <p:sldId xmlns:r="http://schemas.openxmlformats.org/officeDocument/2006/relationships" id="274" r:id="Rec9057ef27b74cf8"/>
    <p:sldId xmlns:r="http://schemas.openxmlformats.org/officeDocument/2006/relationships" id="275" r:id="R620ef5bc1f444a5d"/>
    <p:sldId xmlns:r="http://schemas.openxmlformats.org/officeDocument/2006/relationships" id="276" r:id="R92ed876954cd43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39c82fb8904fbc" /><Relationship Type="http://schemas.openxmlformats.org/officeDocument/2006/relationships/slideMaster" Target="/ppt/slideMasters/slideMaster1.xml" Id="Rfd8f008518bb4280" /><Relationship Type="http://schemas.openxmlformats.org/officeDocument/2006/relationships/notesMaster" Target="/ppt/notesMasters/notesMaster1.xml" Id="R45cbf1f803574e25" /><Relationship Type="http://schemas.openxmlformats.org/officeDocument/2006/relationships/presProps" Target="/ppt/presProps.xml" Id="R05a1bb06626f47e6" /><Relationship Type="http://schemas.openxmlformats.org/officeDocument/2006/relationships/tableStyles" Target="/ppt/tableStyles.xml" Id="R9736131b754247ce" /><Relationship Type="http://schemas.openxmlformats.org/officeDocument/2006/relationships/slide" Target="/ppt/slides/slide1.xml" Id="R55c484f39cb642a6" /><Relationship Type="http://schemas.openxmlformats.org/officeDocument/2006/relationships/slide" Target="/ppt/slides/slide2.xml" Id="Rdaac9b79320748ff" /><Relationship Type="http://schemas.openxmlformats.org/officeDocument/2006/relationships/slide" Target="/ppt/slides/slide3.xml" Id="R4d3e9bc319df4618" /><Relationship Type="http://schemas.openxmlformats.org/officeDocument/2006/relationships/slide" Target="/ppt/slides/slide4.xml" Id="R73734cea05f04ea3" /><Relationship Type="http://schemas.openxmlformats.org/officeDocument/2006/relationships/slide" Target="/ppt/slides/slide5.xml" Id="R46430c7b5bf94f1d" /><Relationship Type="http://schemas.openxmlformats.org/officeDocument/2006/relationships/slide" Target="/ppt/slides/slide6.xml" Id="R6b1eb3177c2f4b28" /><Relationship Type="http://schemas.openxmlformats.org/officeDocument/2006/relationships/slide" Target="/ppt/slides/slide7.xml" Id="R05f92a9f35d64e07" /><Relationship Type="http://schemas.openxmlformats.org/officeDocument/2006/relationships/slide" Target="/ppt/slides/slide8.xml" Id="Rba3ea788be084552" /><Relationship Type="http://schemas.openxmlformats.org/officeDocument/2006/relationships/slide" Target="/ppt/slides/slide9.xml" Id="R3da7ebfdbffe4fc9" /><Relationship Type="http://schemas.openxmlformats.org/officeDocument/2006/relationships/slide" Target="/ppt/slides/slide10.xml" Id="R70c5c58c9d344c48" /><Relationship Type="http://schemas.openxmlformats.org/officeDocument/2006/relationships/slide" Target="/ppt/slides/slide11.xml" Id="R82e0179ea3294304" /><Relationship Type="http://schemas.openxmlformats.org/officeDocument/2006/relationships/slide" Target="/ppt/slides/slide12.xml" Id="R8fb3a6cb3c3849ac" /><Relationship Type="http://schemas.openxmlformats.org/officeDocument/2006/relationships/slide" Target="/ppt/slides/slide13.xml" Id="R5e2ea6c196244f0b" /><Relationship Type="http://schemas.openxmlformats.org/officeDocument/2006/relationships/slide" Target="/ppt/slides/slide14.xml" Id="R93175c0197fa4b32" /><Relationship Type="http://schemas.openxmlformats.org/officeDocument/2006/relationships/slide" Target="/ppt/slides/slide15.xml" Id="R446e5b0258074c54" /><Relationship Type="http://schemas.openxmlformats.org/officeDocument/2006/relationships/slide" Target="/ppt/slides/slide16.xml" Id="Ra26c3b02e6874624" /><Relationship Type="http://schemas.openxmlformats.org/officeDocument/2006/relationships/slide" Target="/ppt/slides/slide17.xml" Id="R9007e4900d154508" /><Relationship Type="http://schemas.openxmlformats.org/officeDocument/2006/relationships/slide" Target="/ppt/slides/slide18.xml" Id="R75f9ed18adf742aa" /><Relationship Type="http://schemas.openxmlformats.org/officeDocument/2006/relationships/slide" Target="/ppt/slides/slide19.xml" Id="Rec9057ef27b74cf8" /><Relationship Type="http://schemas.openxmlformats.org/officeDocument/2006/relationships/slide" Target="/ppt/slides/slide20.xml" Id="R620ef5bc1f444a5d" /><Relationship Type="http://schemas.openxmlformats.org/officeDocument/2006/relationships/slide" Target="/ppt/slides/slide21.xml" Id="R92ed876954cd43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30c9f282ea41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c391cd3c974f6f" /><Relationship Type="http://schemas.openxmlformats.org/officeDocument/2006/relationships/notesMaster" Target="/ppt/notesMasters/notesMaster1.xml" Id="R3b5a47b877dc46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75c2003a43491b" /><Relationship Type="http://schemas.openxmlformats.org/officeDocument/2006/relationships/notesMaster" Target="/ppt/notesMasters/notesMaster1.xml" Id="R072bcda921d147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56000f15ce4495" /><Relationship Type="http://schemas.openxmlformats.org/officeDocument/2006/relationships/notesMaster" Target="/ppt/notesMasters/notesMaster1.xml" Id="Re2fd7a0a3b384d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483e14204946aa" /><Relationship Type="http://schemas.openxmlformats.org/officeDocument/2006/relationships/notesMaster" Target="/ppt/notesMasters/notesMaster1.xml" Id="R7eeec97199fb4c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f1f452839a4ba9" /><Relationship Type="http://schemas.openxmlformats.org/officeDocument/2006/relationships/notesMaster" Target="/ppt/notesMasters/notesMaster1.xml" Id="R4657b1059c4a4e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9f97b7768d4970" /><Relationship Type="http://schemas.openxmlformats.org/officeDocument/2006/relationships/notesMaster" Target="/ppt/notesMasters/notesMaster1.xml" Id="R29b4920c4ac049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78cbc8420e4599" /><Relationship Type="http://schemas.openxmlformats.org/officeDocument/2006/relationships/notesMaster" Target="/ppt/notesMasters/notesMaster1.xml" Id="R62e7401be0b542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3187029f8b4816" /><Relationship Type="http://schemas.openxmlformats.org/officeDocument/2006/relationships/notesMaster" Target="/ppt/notesMasters/notesMaster1.xml" Id="R06f9029348ee47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3ed19979cb4373" /><Relationship Type="http://schemas.openxmlformats.org/officeDocument/2006/relationships/notesMaster" Target="/ppt/notesMasters/notesMaster1.xml" Id="R9df9dcdaa0724a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03505400a343e5" /><Relationship Type="http://schemas.openxmlformats.org/officeDocument/2006/relationships/notesMaster" Target="/ppt/notesMasters/notesMaster1.xml" Id="Rd9e2815e721a43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35cb8bdc9f46f4" /><Relationship Type="http://schemas.openxmlformats.org/officeDocument/2006/relationships/notesMaster" Target="/ppt/notesMasters/notesMaster1.xml" Id="R2b385822fd1e4f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231c271a7a490a" /><Relationship Type="http://schemas.openxmlformats.org/officeDocument/2006/relationships/notesMaster" Target="/ppt/notesMasters/notesMaster1.xml" Id="R039526ee276948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faa12423f3f4ff6" /><Relationship Type="http://schemas.openxmlformats.org/officeDocument/2006/relationships/notesMaster" Target="/ppt/notesMasters/notesMaster1.xml" Id="R3c0a51a3f348423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81eeaaa47f4271" /><Relationship Type="http://schemas.openxmlformats.org/officeDocument/2006/relationships/notesMaster" Target="/ppt/notesMasters/notesMaster1.xml" Id="R0a23f48baa634c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19b2a655414c2a" /><Relationship Type="http://schemas.openxmlformats.org/officeDocument/2006/relationships/notesMaster" Target="/ppt/notesMasters/notesMaster1.xml" Id="Re762dab5c304476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852f28b7ef4b48" /><Relationship Type="http://schemas.openxmlformats.org/officeDocument/2006/relationships/notesMaster" Target="/ppt/notesMasters/notesMaster1.xml" Id="Rfbcfc1ecfade4b5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80d3304d394f54" /><Relationship Type="http://schemas.openxmlformats.org/officeDocument/2006/relationships/notesMaster" Target="/ppt/notesMasters/notesMaster1.xml" Id="R25d29a9ef9a746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496d7b278464c8a" /><Relationship Type="http://schemas.openxmlformats.org/officeDocument/2006/relationships/notesMaster" Target="/ppt/notesMasters/notesMaster1.xml" Id="R26e9b69c308c41a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0b20e0dcafd4fff" /><Relationship Type="http://schemas.openxmlformats.org/officeDocument/2006/relationships/notesMaster" Target="/ppt/notesMasters/notesMaster1.xml" Id="Ra9fdbbaf176445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d83fad2eee4408d" /><Relationship Type="http://schemas.openxmlformats.org/officeDocument/2006/relationships/notesMaster" Target="/ppt/notesMasters/notesMaster1.xml" Id="R367793484f1742c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78ecb5132af41ee" /><Relationship Type="http://schemas.openxmlformats.org/officeDocument/2006/relationships/notesMaster" Target="/ppt/notesMasters/notesMaster1.xml" Id="R0ce9fb070cbd46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This slide intentionally uses the attached DSA2 syllabus instead of the earlier hyperlink-based outline.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Algorithms and DP topics on this slide are drawn from the attached DSA2 syllabus.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All case identifiers, scores, paths, and reviewer assignments on this slide are illustrative; no measured performance or accuracy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Outcomes are target criteria, not claims of completed benchmark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DSA2 syllabus supplied by the user: C:\Users\John\.codex\attachments\a3d67afb-4c4b-45cb-9474-dd4a050141c3\pasted-text.txt (25SC1305E).</a:t>
            </a:r>
          </a:p>
          <a:p xmlns:a="http://schemas.openxmlformats.org/drawingml/2006/main">
            <a:r>
              <a:t>- DSA3 syllabus named by the user: /mnt/data/25CS2103E-DSA-3 CHO-KLH.pdf; topic mapping limited to the referenced conversation because the PDF was not mounted locally.</a:t>
            </a:r>
          </a:p>
          <a:p xmlns:a="http://schemas.openxmlformats.org/drawingml/2006/main">
            <a:r>
              <a:t>- Project scope and constraints: referenced conversation 6a72a53f-54c4-83e8-8508-9de81dd4e2f6.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d033b403843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3e0b8250c542fb" /><Relationship Type="http://schemas.openxmlformats.org/officeDocument/2006/relationships/slideLayout" Target="/ppt/slideLayouts/slideLayout1.xml" Id="Raef5743825dd47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f5743825dd47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7193b5c2243c5" /><Relationship Type="http://schemas.openxmlformats.org/officeDocument/2006/relationships/notesSlide" Target="/ppt/notesSlides/notesSlide1.xml" Id="R5ba89ba498bb41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3b4f229cf4b4f" /><Relationship Type="http://schemas.openxmlformats.org/officeDocument/2006/relationships/notesSlide" Target="/ppt/notesSlides/notesSlide2.xml" Id="Re52a4af848c541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82185ad404c93" /><Relationship Type="http://schemas.openxmlformats.org/officeDocument/2006/relationships/notesSlide" Target="/ppt/notesSlides/notesSlide3.xml" Id="R637ec702883f40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12aa7409c4675" /><Relationship Type="http://schemas.openxmlformats.org/officeDocument/2006/relationships/notesSlide" Target="/ppt/notesSlides/notesSlide4.xml" Id="R3e001053bb0e49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837366aea412f" /><Relationship Type="http://schemas.openxmlformats.org/officeDocument/2006/relationships/notesSlide" Target="/ppt/notesSlides/notesSlide5.xml" Id="Ra0c2185e954c48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1cbced3b64c8b" /><Relationship Type="http://schemas.openxmlformats.org/officeDocument/2006/relationships/notesSlide" Target="/ppt/notesSlides/notesSlide6.xml" Id="R14620811336f43e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04c3d7c334f85" /><Relationship Type="http://schemas.openxmlformats.org/officeDocument/2006/relationships/notesSlide" Target="/ppt/notesSlides/notesSlide7.xml" Id="Ra87bda6e4d9042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a4ab7265a44bc" /><Relationship Type="http://schemas.openxmlformats.org/officeDocument/2006/relationships/notesSlide" Target="/ppt/notesSlides/notesSlide8.xml" Id="Rf74c44cd176f47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7ac26f54d40f1" /><Relationship Type="http://schemas.openxmlformats.org/officeDocument/2006/relationships/notesSlide" Target="/ppt/notesSlides/notesSlide9.xml" Id="Ree740256052844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6a21d4fac484b" /><Relationship Type="http://schemas.openxmlformats.org/officeDocument/2006/relationships/notesSlide" Target="/ppt/notesSlides/notesSlide10.xml" Id="R4a46c6cd754e4e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0d05bd2e945f2" /><Relationship Type="http://schemas.openxmlformats.org/officeDocument/2006/relationships/notesSlide" Target="/ppt/notesSlides/notesSlide11.xml" Id="R0b96c2a086c94a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14fe66ae148ba" /><Relationship Type="http://schemas.openxmlformats.org/officeDocument/2006/relationships/notesSlide" Target="/ppt/notesSlides/notesSlide12.xml" Id="Rb8142e0fdb9141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31d01e51c4ad1" /><Relationship Type="http://schemas.openxmlformats.org/officeDocument/2006/relationships/notesSlide" Target="/ppt/notesSlides/notesSlide13.xml" Id="R7040d50a4e6144b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2196560604059" /><Relationship Type="http://schemas.openxmlformats.org/officeDocument/2006/relationships/notesSlide" Target="/ppt/notesSlides/notesSlide14.xml" Id="Re8e2918c26ce49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29d7c33cc40d2" /><Relationship Type="http://schemas.openxmlformats.org/officeDocument/2006/relationships/notesSlide" Target="/ppt/notesSlides/notesSlide15.xml" Id="Rcf7297cbd72c423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56523c67d4bc8" /><Relationship Type="http://schemas.openxmlformats.org/officeDocument/2006/relationships/chart" Target="/ppt/slides/charts/chart1.xml" Id="R338820af71e24496" /><Relationship Type="http://schemas.openxmlformats.org/officeDocument/2006/relationships/notesSlide" Target="/ppt/notesSlides/notesSlide16.xml" Id="Rf32f57b985c848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d3ec45bef4af2" /><Relationship Type="http://schemas.openxmlformats.org/officeDocument/2006/relationships/notesSlide" Target="/ppt/notesSlides/notesSlide17.xml" Id="R5b12ab2fbdf64a4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457ed7e534d4d" /><Relationship Type="http://schemas.openxmlformats.org/officeDocument/2006/relationships/notesSlide" Target="/ppt/notesSlides/notesSlide18.xml" Id="R613eb665340d4e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71920033e4a86" /><Relationship Type="http://schemas.openxmlformats.org/officeDocument/2006/relationships/notesSlide" Target="/ppt/notesSlides/notesSlide19.xml" Id="Rf053f52ed4a34bf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db14e0da74478" /><Relationship Type="http://schemas.openxmlformats.org/officeDocument/2006/relationships/notesSlide" Target="/ppt/notesSlides/notesSlide20.xml" Id="R868858c777a24a4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cad7bc1bf47ca" /><Relationship Type="http://schemas.openxmlformats.org/officeDocument/2006/relationships/notesSlide" Target="/ppt/notesSlides/notesSlide21.xml" Id="R66a61672b4e6422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Exact phrase</c:v>
              </c:pt>
              <c:pt idx="1">
                <c:v>Fuzzy alignment</c:v>
              </c:pt>
              <c:pt idx="2">
                <c:v>5-gram Jaccard</c:v>
              </c:pt>
            </c:strLit>
          </c:cat>
          <c:val>
            <c:numLit>
              <c:formatCode>General</c:formatCode>
              <c:ptCount val="3"/>
              <c:pt idx="0">
                <c:v>78</c:v>
              </c:pt>
              <c:pt idx="1">
                <c:v>71</c:v>
              </c:pt>
              <c:pt idx="2">
                <c:v>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111318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4E7EB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4B5563"/>
                    </a:solidFill>
                  </a:rPr>
                  <a:t>Component score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4B5563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5563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318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3612A-DFB6-40B4-92CD-15F4A1D5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JAVA • DATA STRUCTURES &amp; ALGORITHMS III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39094-F91A-4841-84A9-B4C6A817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04875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53CC79F9-9B4F-4D62-9B03-3B9C06FA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9715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Advanced Plagiarism Detection</a:t>
            </a:r>
          </a:p>
          <a:p xmlns:a="http://schemas.openxmlformats.org/drawingml/2006/main">
            <a:pPr algn="l">
              <a:defRPr sz="5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and Academic Integrity</a:t>
            </a:r>
          </a:p>
          <a:p xmlns:a="http://schemas.openxmlformats.org/drawingml/2006/main">
            <a:pPr algn="l">
              <a:defRPr sz="5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Analysis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8DB9F-453B-402A-9400-E2B57CBA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Feature-rich, explainable text analytics built with custom algorithms and data structures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5B06A8-D6D6-4BA5-86CB-C1FEE944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38275"/>
            <a:ext cx="245745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D388A2-810A-4F74-8641-0B38E272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TEAM OF 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DB240-7C5B-40B7-ACFD-DEEBCA84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28875"/>
            <a:ext cx="171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Member 1</a:t>
            </a:r>
          </a:p>
          <a:p xmlns:a="http://schemas.openxmlformats.org/drawingml/2006/main">
            <a:pPr algn="ctr"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Member 2</a:t>
            </a:r>
          </a:p>
          <a:p xmlns:a="http://schemas.openxmlformats.org/drawingml/2006/main">
            <a:pPr algn="ctr"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Member 3</a:t>
            </a:r>
          </a:p>
          <a:p xmlns:a="http://schemas.openxmlformats.org/drawingml/2006/main">
            <a:pPr algn="ctr"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Member 4</a:t>
            </a:r>
          </a:p>
          <a:p xmlns:a="http://schemas.openxmlformats.org/drawingml/2006/main">
            <a:pPr algn="ctr"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Member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31A79-5E7D-41A8-8FAD-9A5FC534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531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Course 25CS2103E • Academic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86245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444203-AD76-4F82-82E3-8A0C2F04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E5D0ABE-EB14-41A1-A611-46DB2186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Manual review misses the patterns that matter most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4E4DC-292A-49DC-AE8E-0565574B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297BDE-0479-46DF-BE19-AEF6F23A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768CDC-9CC1-4DC5-86A4-7E401345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8BEBA-3F3A-4292-B6D4-F5D7B96A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911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7BAFD-D900-48CF-B561-BC8EC24F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6959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23422-DBB9-42D6-A8C6-3949A284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CHALLENGE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E88A0-AB4B-4C02-85B6-3275451B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3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DFF35-C828-46D0-99B3-BD66A18A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4438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Large corpora make pairwise comparison slow.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19C30-508F-4C9B-8098-A3B44CDB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95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3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113AE-E431-4F51-B260-A69066E3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4438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Small edits defeat exact-match-only tools.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907674-FB2F-487F-B3BB-7362FA7A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3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C5738-8072-462A-81FF-A6DB1964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4438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 percentage alone cannot support fair review.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C35764-32C3-483C-AD3F-8103647B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859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SYSTEM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A5B80-67E8-4804-812B-19B9BFB9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26802-3222-4257-A176-66FF8BCA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4629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Layer exact, fuzzy, and structural checks.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8EC385-5971-4886-BE8D-A5862582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95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8F0FC-30F6-4C30-B2B4-A948977B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9950"/>
            <a:ext cx="4629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Preserve passage locations and match types.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EC95A-4050-4C2E-B06C-E255D2B2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1A3BB3-7771-4673-B25B-987CB086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48150"/>
            <a:ext cx="4629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Route evidence-rich cases to human reviewers.</a:t>
            </a:r>
          </a:p>
        </p:txBody>
      </p:sp>
    </p:spTree>
    <p:extLst>
      <p:ext uri="{BB962C8B-B14F-4D97-AF65-F5344CB8AC3E}">
        <p14:creationId xmlns:p14="http://schemas.microsoft.com/office/powerpoint/2010/main" val="979433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B790B2-F7AD-4100-9B2A-2015BDDC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3664377F-058D-4577-9772-5DC4AEEF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Fair review at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46D0B-B3CF-480C-96F3-ADF429FC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SOCIETAL NEED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47D8C-14D8-4B37-8B64-87D0A08E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32D81-DE5C-4E50-A5ED-A8825E0F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33049-6B4F-4A0A-9C0A-8C84C3DD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C28DF-4845-41BD-92AB-AB7BA283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The system supports fairer decisions while reducing repetitive comparison 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E8220-990D-421C-8A35-A4190FCB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385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AD095-8F1E-40E8-B1C4-1047933E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FAIR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664CE-B44F-46E1-BD4E-D064CE14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Consistent screening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343BF-A248-46C2-8B8E-696E463F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2714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Common thresholds and visible passages support equal treatment.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E08F8-0758-4AB1-8463-F1F3078B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52650"/>
            <a:ext cx="32385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45DFC-2BEE-47CD-B0CC-9FDFDBB5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5745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5CA17-04EB-43ED-A956-09419732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76625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Batch 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BEE81-B154-460D-8D2D-927F0998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48125"/>
            <a:ext cx="2714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Submission folders and references are processed through one repeatable workflow.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3A5A76-EBE9-42E6-B6AC-5AF3C279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52650"/>
            <a:ext cx="32385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67426-E5CE-4ACC-A05F-7D56EE17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TRACEABLE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DAA33-3BB5-404A-A0B2-874AA814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76625"/>
            <a:ext cx="271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Reviewable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2DCA4-0288-4DEE-B82B-7D29E9E2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48125"/>
            <a:ext cx="2714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Saved reports, logs, and source locations support verification and appeals.</a:t>
            </a:r>
          </a:p>
        </p:txBody>
      </p:sp>
    </p:spTree>
    <p:extLst>
      <p:ext uri="{BB962C8B-B14F-4D97-AF65-F5344CB8AC3E}">
        <p14:creationId xmlns:p14="http://schemas.microsoft.com/office/powerpoint/2010/main" val="14977237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3D94BB-E76E-4346-961E-326EDAC4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DD6FAB0A-05D4-4E5A-B4B6-FC657B8E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project turns raw text into reviewer-ready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45558-8B0D-454F-9CE2-3696D9CC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2E9B3-1670-4F8F-B7EA-0A1DA090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F9201-A754-4573-8EE6-EF69C253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BC9DE-F948-4F6C-940F-C5944BA6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905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DETECT</a:t>
            </a:r>
          </a:p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EXPLAIN</a:t>
            </a:r>
          </a:p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PRIORITIZE</a:t>
            </a:r>
          </a:p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CAD77-CE4C-472F-82A4-E1BF2B42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192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018C2-0EB1-4B50-B78B-B5860B6B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8478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825AC-114C-4B29-A1C9-2D7CAE60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18192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5604F-8BD6-4064-A7C2-59077298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Import and validate text corpora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F6BDF-AC81-42AA-83EB-98E370AC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5908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87CEA-E1CD-442B-AF16-966AF044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5622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E3BAED-D503-4DB4-8016-4567F6EF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527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Detect exact and modified passages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0083E7-866D-4B4C-8CCD-2DFACC65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FAEBF-AC07-4D97-A5F4-4DF7869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3051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E546C-9088-40FC-91BC-9E89064E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Rank cases with configurable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6865CE-B1E3-45B4-BAA2-ED325152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767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B120F0-2A79-4865-B57A-07666E1D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04812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3A8C7-BE9E-4667-AA8F-42B6D82B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38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Reveal clusters and copying paths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6ED794-DC9F-4EF6-BB79-55C4A770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19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0A92F-1231-4BC0-B51C-E0E1F570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791075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9AC41C-3B30-4A1B-9D2F-121A8472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815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Export evidence, metrics, and logs</a:t>
            </a:r>
          </a:p>
        </p:txBody>
      </p:sp>
    </p:spTree>
    <p:extLst>
      <p:ext uri="{BB962C8B-B14F-4D97-AF65-F5344CB8AC3E}">
        <p14:creationId xmlns:p14="http://schemas.microsoft.com/office/powerpoint/2010/main" val="16202355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2B0BE0-3AA2-4F41-9CB0-53D7A3AC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AAA58801-F23C-46B1-B434-18B02766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Novelty comes from combining algorithms around one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00979-94C1-467B-8BB3-01F95557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NOVELTY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5F90F-B7A6-478D-865B-43842F8C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F5129-1D54-4F2E-B790-5E1517ED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C7583-14D8-443D-BA96-6824887F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TYPICAL DETECTOR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78542-7716-4444-AB14-4F11787B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PROPOSED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6676E5-CA04-4285-851C-AB60EA41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0200B-8DBE-4240-B4A1-E765D69B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5054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92AB3-CCD2-4FEA-BF2E-D6FFC554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C4DD95-C5BF-408B-8683-127EAF54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71750"/>
            <a:ext cx="3867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One similarity measure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AC5D9-8CE5-4F3B-877B-063660B0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E30A3-EA72-401D-A683-A2A9EA74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00400"/>
            <a:ext cx="3867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Built-in collection dependence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A720D-C983-41EF-8665-E8C243F5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93349-DA95-4953-8970-3AF4EC49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29050"/>
            <a:ext cx="3867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Opaque final percentage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6EC9F-C3E9-42D9-8689-DF47A2F3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15767-C88F-4B64-83AB-7D1FC047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57700"/>
            <a:ext cx="3867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Single-file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3D1C5-0F6B-4BF7-A0E1-AAC5728F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DA030-AE09-4669-AC1D-CB7FED45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71750"/>
            <a:ext cx="4391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Exact + fuzzy + graph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8C8DE4-0B9A-47A9-8042-20E71E48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ACDE0-4A73-478D-BA59-4CEADC36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00400"/>
            <a:ext cx="4391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Custom generic engine structures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CA348C-2AD3-4C11-911F-3CCF535B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0D5CE-2500-4208-9A52-6FAB6C14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4391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Visible score components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9F0AF-24A5-49B7-BB11-BDE3CC15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D27463-A4D3-4ADC-8B42-0D4132B9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57700"/>
            <a:ext cx="4391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Batch review and assignment</a:t>
            </a:r>
          </a:p>
        </p:txBody>
      </p:sp>
    </p:spTree>
    <p:extLst>
      <p:ext uri="{BB962C8B-B14F-4D97-AF65-F5344CB8AC3E}">
        <p14:creationId xmlns:p14="http://schemas.microsoft.com/office/powerpoint/2010/main" val="11680071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203D52-9531-45B1-BE16-FEA39D7F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755E1AAE-037A-40AE-92DF-524337C0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The system separates detection, explanation, and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F8F7AF-6BBD-46F8-9923-BCCBE261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SYSTEM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76993-8FEE-4733-95F0-A6C01FBF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0BA77-85FE-460E-BE19-A350A628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7822F-35A0-4968-92DD-29E88850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BE2224-6919-4388-B3F3-E27F5D01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E0CFA-92E1-417F-B9A0-67D1A3E9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83375-F214-437F-8F49-931BDE5D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Normalize text, build shingles and indexes, then run exact and fuzzy matching.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07739-8BCC-406D-96C0-CC1589CE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050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4BA74-3D92-4BB6-95E3-6ECC4141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43125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90A12C-B8C7-4620-9E56-B1C10248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9051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507D6-D57A-4CB5-A63E-4ABA4582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6712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Recover matched passages, source positions, score components, and document relationships.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3A7FDE-1F0A-47CC-BA48-A1D422F5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050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9B6B8-C560-405A-B813-350FAF60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43125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697CE-2E40-449F-AC2E-2FD983A6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F05F9-44B1-4C75-BAE9-5E378ED0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67125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Rank cases, assign reviewers under capacity, and export reports and logs.</a:t>
            </a:r>
          </a:p>
        </p:txBody>
      </p:sp>
    </p:spTree>
    <p:extLst>
      <p:ext uri="{BB962C8B-B14F-4D97-AF65-F5344CB8AC3E}">
        <p14:creationId xmlns:p14="http://schemas.microsoft.com/office/powerpoint/2010/main" val="15528107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A46213-BA75-4D5F-8B08-02A48623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B0DE3695-E45F-4C1E-9EEE-DBF76034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Layered architecture keeps every algorithm testable and replaceable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075B2C-E249-4B12-BDC4-E625907C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BAE3A-9993-4CE5-A07A-12473FD7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A63B4-C458-4616-9ECF-E0E92ADC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2B64F-CBF5-4B0A-950B-081A84BF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43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04C28-6E9D-40C3-816D-04D99614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0B993-B04F-49BA-813B-3F96E9D6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F1499-8C56-41CA-A3D2-13673E19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0D693-7EAA-4673-957E-94347539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809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95F5E8-0F92-4030-9231-6BC56832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01B6F-8A1B-4A1B-AFB0-9C898D6D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142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Submissions</a:t>
            </a:r>
          </a:p>
          <a:p xmlns:a="http://schemas.openxmlformats.org/drawingml/2006/main">
            <a:pPr algn="ctr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References</a:t>
            </a:r>
          </a:p>
          <a:p xmlns:a="http://schemas.openxmlformats.org/drawingml/2006/main">
            <a:pPr algn="ctr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Settings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E2919-0907-4D92-A8F3-2D0BCC54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57400"/>
            <a:ext cx="1809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94126-EC53-46E6-878E-0E909C74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622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INGESTION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F118B-5BFE-48FE-BF17-9EF92D7E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00375"/>
            <a:ext cx="142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Validate</a:t>
            </a:r>
          </a:p>
          <a:p xmlns:a="http://schemas.openxmlformats.org/drawingml/2006/main">
            <a:pPr algn="ctr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Read</a:t>
            </a:r>
          </a:p>
          <a:p xmlns:a="http://schemas.openxmlformats.org/drawingml/2006/main">
            <a:pPr algn="ctr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B26FD-FE88-42D5-A11A-29FE3886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57400"/>
            <a:ext cx="1809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DA081-C60B-4A34-9EC2-F514C73E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622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78A288-AEDC-4722-997E-7D3B74F3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00375"/>
            <a:ext cx="142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Index</a:t>
            </a:r>
          </a:p>
          <a:p xmlns:a="http://schemas.openxmlformats.org/drawingml/2006/main">
            <a:pPr algn="ctr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Match</a:t>
            </a:r>
          </a:p>
          <a:p xmlns:a="http://schemas.openxmlformats.org/drawingml/2006/main">
            <a:pPr algn="ctr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3EC6D3-D96B-4E9F-AA6F-D0604781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57400"/>
            <a:ext cx="1809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0667D3-C062-42E6-A4DB-691A4502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622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1DADB1-890F-4A57-A7E8-7FBAC134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00375"/>
            <a:ext cx="142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Rank</a:t>
            </a:r>
          </a:p>
          <a:p xmlns:a="http://schemas.openxmlformats.org/drawingml/2006/main">
            <a:pPr algn="ctr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Assign</a:t>
            </a:r>
          </a:p>
          <a:p xmlns:a="http://schemas.openxmlformats.org/drawingml/2006/main">
            <a:pPr algn="ctr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7A1C34-FAE0-4057-919B-CD63205D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57400"/>
            <a:ext cx="1809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79CB67-8AE8-4B50-A406-60A0E553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62200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74241E-2EC3-45D6-85DC-04B038F5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00375"/>
            <a:ext cx="1428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Evidence</a:t>
            </a:r>
          </a:p>
          <a:p xmlns:a="http://schemas.openxmlformats.org/drawingml/2006/main">
            <a:pPr algn="ctr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Reports</a:t>
            </a:r>
          </a:p>
          <a:p xmlns:a="http://schemas.openxmlformats.org/drawingml/2006/main">
            <a:pPr algn="ctr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Logs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4AD387-6C4A-4F20-8531-51539577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4203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ED4D99-FB47-4AE8-AFA9-273C8FA1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CROSS-CUTTING RELIABILITY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437A45-21FA-42BE-B1D7-DE948944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720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Generics  •  validation  •  custom exceptions  •  concurrency  •  logging</a:t>
            </a:r>
          </a:p>
        </p:txBody>
      </p:sp>
    </p:spTree>
    <p:extLst>
      <p:ext uri="{BB962C8B-B14F-4D97-AF65-F5344CB8AC3E}">
        <p14:creationId xmlns:p14="http://schemas.microsoft.com/office/powerpoint/2010/main" val="274460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019B58-CF9B-484A-B4F0-D6ADAF43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D4912E74-D514-4416-8C60-4C25B7B9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Six modules divide the system into clear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B800FF-EBC0-498E-B318-601AE07A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B2577-DC15-4527-BD58-08D11B5D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730FA-FB13-4365-830B-D9F69CB3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3182B-5C78-4706-9D3F-605EF488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93968F-F330-41D2-ADE3-E0964F11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857375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Corpus ingestion &amp;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00A94-0786-4E2B-822D-6CACC071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57425"/>
            <a:ext cx="4267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Batch folders, metadata, stop words, settings, and reviewer files.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98499-4793-49C5-A280-7CBF929D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BF0C8A-86C1-4E81-8BF5-8598F774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Text preparation &amp; indexing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DEECA-6DB5-4B0E-9B98-CD21C1B6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38550"/>
            <a:ext cx="4267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Normalization, tokenization, shingles, fingerprints, and searchable indexes.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31252-9892-4299-B6FB-8AEE4F5B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93280-930D-43D0-8564-5B07472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19625"/>
            <a:ext cx="426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Exact &amp; fuzzy detection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A2E945-1712-4711-A9C4-97A70513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19675"/>
            <a:ext cx="4267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Phrase search, sequence alignment, similarity scoring, and evidence recovery.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2853A-0B5D-4F57-967F-ADA675EB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F5D9B-5CE3-4B36-8F25-214E8E0A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57375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Similarity &amp; graph analytics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C3B85C-9A64-41E2-9035-2DF36A59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57425"/>
            <a:ext cx="455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Clusters, paths, range statistics, ranking, and candidate reduction.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BF226-E0BD-4FB7-8229-6A7AA044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497838-8D72-4283-AECC-B304A269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Reviewer assignment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247364-C81C-48B3-91BE-DA1403D9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38550"/>
            <a:ext cx="455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Capacity-aware case routing and compact evidence selection.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C87C44-D4DA-4762-B875-88C3C617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96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CB6AF-7DD9-4E93-85B1-6C061A67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19625"/>
            <a:ext cx="455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Reporting &amp; benchmarking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5252A-328B-490A-BB93-F6825ACA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019675"/>
            <a:ext cx="4552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Readable reports, activity logs, error logs, runtime, and memory results.</a:t>
            </a:r>
          </a:p>
        </p:txBody>
      </p:sp>
    </p:spTree>
    <p:extLst>
      <p:ext uri="{BB962C8B-B14F-4D97-AF65-F5344CB8AC3E}">
        <p14:creationId xmlns:p14="http://schemas.microsoft.com/office/powerpoint/2010/main" val="14167355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8CC6DB-7E66-4389-8206-BDB692D3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87588EAD-166B-4C68-ABD9-5E590D4B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DSA2 structures make indexing and analytics measurable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41A91-C9DF-4971-81CC-86A428B7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DSA2 • STRUCTURES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E55C7-E5D6-4177-9A05-285B4F01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C143D9-768F-4BC7-9A3D-B1A047ED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E1FD8D-3D98-4DEC-9A87-FC33DAD9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33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INDEX</a:t>
            </a:r>
          </a:p>
          <a:p xmlns:a="http://schemas.openxmlformats.org/drawingml/2006/main">
            <a:pPr algn="l">
              <a:defRPr sz="37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QUERY</a:t>
            </a:r>
          </a:p>
          <a:p xmlns:a="http://schemas.openxmlformats.org/drawingml/2006/main">
            <a:pPr algn="l">
              <a:defRPr sz="37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RANK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CD510-CF64-4E74-8089-5DB10422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Selected directly from the attached 25SC1305E syllabus and mapped to visible project features.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DEE44-DBAB-4A84-B619-6DEA43A3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24000"/>
            <a:ext cx="204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BST + AVL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4BCC8E-22BB-4F96-AB33-335AB65D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Generic report index; compare degeneracy with LL, RR, LR, and RL rebalancing.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54453-9AB8-490E-B411-E7D8715B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3E219-F348-44AF-9398-7BDB0503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24125"/>
            <a:ext cx="204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 / B+ trees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8B3FED-B58E-44CF-BF08-40A233EC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241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File metadata index; linked leaves support ordered and score/date range retrieval.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18D5B-6ED2-4F86-8C8F-AE8C3AC1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8612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3AF07-D716-48F0-9661-6E2A48D8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24250"/>
            <a:ext cx="204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Segment + BIT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6A527-E1F4-4E13-9E05-E5D3E79B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24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Range min/max/sum and cumulative flagged-submission statistics.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CD91F8-9582-459D-B197-38CB2121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8625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0A6643-7710-4F6D-997F-275CCEF3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24375"/>
            <a:ext cx="204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Heap + sorting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B2595C-385E-4122-B1C0-913BBA33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243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Priority ranking plus Merge, Quick, Heap, Counting, and Radix benchmarks.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8A4F9-8971-43BA-BF41-6E529074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863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92458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ADCAB-8230-42EB-BB38-5C7A71D4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E4E00050-293F-4836-8014-19354756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DSA2 graph algorithms reveal relationships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1A3A7-A2D7-4423-8213-AEE5CE9B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DSA2 • ALGORITHMS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D1C9A-14A9-4853-B95A-81F5FA83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E4B33-14D3-42C3-9896-01BFA503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855A6-2F82-44AB-A9AB-B028CA6A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18AC0-2F31-4584-8E06-3D64EF04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33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CONNECT</a:t>
            </a:r>
          </a:p>
          <a:p xmlns:a="http://schemas.openxmlformats.org/drawingml/2006/main">
            <a:pPr algn="l">
              <a:defRPr sz="34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TRACE</a:t>
            </a:r>
          </a:p>
          <a:p xmlns:a="http://schemas.openxmlformats.org/drawingml/2006/main">
            <a:pPr algn="l">
              <a:defRPr sz="34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OPTIMIZE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D188A-FB61-4A73-A3F8-DF4DC7A4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Each algorithm supports a visible cluster, path, or optimization feature.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ED1CB-6E8D-49D0-BD8B-323F493B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24000"/>
            <a:ext cx="204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BFS / DFS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92DA3A-7FF0-4E9E-B95C-50335EA1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52400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Traverse similarity graphs; find components and related document groups.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E207D-5ED6-4259-9BBD-9A585A30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8600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3FA44-D950-4E40-B8C3-625FBDDA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24125"/>
            <a:ext cx="204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MST + paths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043D4C-7459-4738-9D75-44C03EF5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2412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Kruskal/Prim compact clusters; Dijkstra/Floyd-Warshall trace copying paths.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EED84-280E-4E1B-BCB4-4D263A01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8612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3FD7B-7F0C-4503-853C-48A23E12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24250"/>
            <a:ext cx="204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Greedy + Huffman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63061F-A43D-4662-9DB0-4AC09F51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242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Select compact evidence and compress stored reports with provenance.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4B4122-EE4A-4D5E-82F7-A03F433E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86250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F22E37-AC27-4ECB-BA72-7A20E8E5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24375"/>
            <a:ext cx="2047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DP: LCS + edit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EEC73-8E81-4028-911E-947BEB9F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24375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Align modified passages with memoization, tabulation, and rolling rows.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3363EC-974F-47CD-96B8-F08E5900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863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99005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E08C82-4728-4DB4-A6EE-F4D50606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0C87C957-5C23-492A-9FAA-A74BCD02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DSA3 verification explains why a document pair was flagged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6539D-7D0F-4AEC-8379-9BA3B9D6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DSA3 • MATCHING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83BA7-4E3F-4464-9A79-AB005474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24945-DB54-4159-B8FF-26B3E683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A4B85-3D50-4164-A3FF-C84C469F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E25CE-ABDD-4349-B0A5-A943D9AC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EXACT 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189EE-95D8-4960-B007-5E487843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2714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KMP and Z-function find exact phrases. Rabin-Karp verifies shingle hash hits against the original 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A46B7-AE25-472A-ADE5-311965B7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669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C10FC4-716E-4853-8B7C-95C280F1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MULTI-PATTERN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0FFE3-F3FD-4F64-BA62-EB3BD4EA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48000"/>
            <a:ext cx="2714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Trie and Aho-Corasick search many suspicious phrases together across a reference corpus.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B739C-237D-4FEB-A671-BDFF6D21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669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ABF45-A07C-4E38-A5F5-49D0222A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PASSAGE SIMILARITY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4B75DF-4A83-4084-B9FD-81CC1213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2714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Suffix array + LCP and local alignment recover long or partially modified common regions.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6E452-7B13-44A4-B55F-36325396D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Composite score remains explainable: exact • shingle • alignment • graph signal</a:t>
            </a:r>
          </a:p>
        </p:txBody>
      </p:sp>
    </p:spTree>
    <p:extLst>
      <p:ext uri="{BB962C8B-B14F-4D97-AF65-F5344CB8AC3E}">
        <p14:creationId xmlns:p14="http://schemas.microsoft.com/office/powerpoint/2010/main" val="5185719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6A3D82-1965-4F63-A521-C412F5AE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46A67F9B-050F-42F9-AE63-846E9F92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Randomized, flow, approximation, and parallel methods scale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6D834-56C7-42A3-8830-647EEC03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DSA3 •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A2CDE-459F-4DDD-AC9D-A85E0251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08AC2-B762-4EF0-A7C7-DFE8FA46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DCAA1-D46D-47E1-82CC-5E03D047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908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DEA5E-A540-42F2-BC5A-4505F3C9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908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B8574-A471-42B7-B672-E08020D0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1908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C72AC-E43D-43A0-B9AA-875F3DF5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333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EE03F-461D-4486-867E-2B32413C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08617-82E1-46E6-9C0A-97D99FB3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SCREEN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DEEE3-44E7-4805-9C33-0DA04C10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13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MinHash shortlists likely document pairs.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C6325-BFD9-4D2A-9523-EBAC7897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2333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23E26-AFE9-4142-8C4F-8227AB2B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2860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60921-A5B8-4999-B7ED-58C401D5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D34FE-E288-4AA5-A094-21BACB95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47662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13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Graph components reveal related groups.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61DE3-7C16-400F-ADDB-B76B5AB1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47875"/>
            <a:ext cx="2333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3C3762-C979-4EC8-9054-3866070B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A4EBE-796B-43F5-9A54-EB1577ED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ASSIGN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93461E-B259-4B93-8ADE-3BFEE1B7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13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Max flow respects reviewer capacity.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F3DA77-D648-494D-942D-DD30DB5B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47875"/>
            <a:ext cx="2333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AD040A-DA01-441F-B341-F7A0D1C9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2860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72E4D-42C0-4886-928F-71C4B47C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8575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5A0A42-8FCC-46CB-AF14-84C6BF04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47662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13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13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Parallel workers compare independent pairs.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20F9E1-5AC2-45EA-B5A3-7FE04B6E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05375"/>
            <a:ext cx="914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95DAAB-5121-4E62-A2D0-C0FF61A4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095875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Greedy set cover selects compact evidence without removing links to the original matches.</a:t>
            </a:r>
          </a:p>
        </p:txBody>
      </p:sp>
    </p:spTree>
    <p:extLst>
      <p:ext uri="{BB962C8B-B14F-4D97-AF65-F5344CB8AC3E}">
        <p14:creationId xmlns:p14="http://schemas.microsoft.com/office/powerpoint/2010/main" val="6853309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DCB340-E36B-497A-9139-BE5DB133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F0C2CDC9-E382-4E2C-B530-70324978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Reliable file handling turns algorithms into a usable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65375-B53D-442B-8EB6-0EE08566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FILES &amp;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80FA6-BCD9-4038-8302-43DDDE73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78C19-AC46-4D7F-BED1-186E7E51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015C2-F21D-4CE2-922D-DB4F9AA7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590C9-32C1-495B-9800-20AEB2CA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822F5-C211-4256-A33E-5BC11341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READ SAFELY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06E8A-196B-42F5-B478-61C9972D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Buffered I/O</a:t>
            </a:r>
          </a:p>
          <a:p xmlns:a="http://schemas.openxmlformats.org/drawingml/2006/main">
            <a:pPr algn="l">
              <a:defRPr sz="17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try-with-resources</a:t>
            </a:r>
          </a:p>
          <a:p xmlns:a="http://schemas.openxmlformats.org/drawingml/2006/main">
            <a:pPr algn="l">
              <a:defRPr sz="17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directory batch import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AF067-435F-48EF-A42F-1F26511F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621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71425-7289-49E8-9FD2-078D693E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95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2950B5-9C59-4DF0-BFA3-182BC822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VALIDATE EARLY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59826-EFB0-4240-BC12-17E827AA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2425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missing or empty</a:t>
            </a:r>
          </a:p>
          <a:p xmlns:a="http://schemas.openxmlformats.org/drawingml/2006/main">
            <a:pPr algn="l">
              <a:defRPr sz="17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unsupported type</a:t>
            </a:r>
          </a:p>
          <a:p xmlns:a="http://schemas.openxmlformats.org/drawingml/2006/main">
            <a:pPr algn="l">
              <a:defRPr sz="17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size, encoding, duplicate 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4536C-89C0-4D78-83A6-30535E56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62125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8B3F34-3B3D-4957-A81E-5777725A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5C5C9-2B6C-460F-8C3E-6D155307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13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RECOVER CLEARLY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AC467-1629-4475-9C56-CE2F777D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2425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custom exceptions</a:t>
            </a:r>
          </a:p>
          <a:p xmlns:a="http://schemas.openxmlformats.org/drawingml/2006/main">
            <a:pPr algn="l">
              <a:defRPr sz="17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quarantine + logs</a:t>
            </a:r>
          </a:p>
          <a:p xmlns:a="http://schemas.openxmlformats.org/drawingml/2006/main">
            <a:pPr algn="l">
              <a:defRPr sz="17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temporary write, then replace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D06DE-2F09-40D3-AAA1-A461E9C9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591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0C6D45-C37A-420E-A4AB-9ACB8E17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2575"/>
            <a:ext cx="1024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13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13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Persistent files: submissions • references • stop words • settings • reviewers • reports • logs</a:t>
            </a:r>
          </a:p>
        </p:txBody>
      </p:sp>
    </p:spTree>
    <p:extLst>
      <p:ext uri="{BB962C8B-B14F-4D97-AF65-F5344CB8AC3E}">
        <p14:creationId xmlns:p14="http://schemas.microsoft.com/office/powerpoint/2010/main" val="17941032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46C767-67A8-48AA-9519-0BBA21C0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4-title">
            <a:extLst xmlns:a="http://schemas.openxmlformats.org/drawingml/2006/main">
              <a:ext uri="{FF2B5EF4-FFF2-40B4-BE49-F238E27FC236}">
                <a16:creationId xmlns:a16="http://schemas.microsoft.com/office/drawing/2014/main" id="{D7386448-1F1C-40C5-8DFB-799CA0F5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Generics reduce duplication without hiding the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D109B-015C-44C3-A315-CC0F5ADC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ENGINE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E09F3-9DF1-484F-B957-CB8EC105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B8E95-2CDA-4D4A-A4A5-076AC236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5D937-7B40-497B-BCAB-B4761AE9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4762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32882-C731-4999-A412-3AB95BAF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52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0EDFA"/>
                </a:solidFill>
                <a:latin typeface="Consolas"/>
                <a:ea typeface="Consolas"/>
                <a:cs typeface="Consolas"/>
              </a:defRPr>
            </a:pPr>
            <a:r>
              <a:rPr sz="1575" b="1" i="0">
                <a:solidFill>
                  <a:srgbClr val="D0EDFA"/>
                </a:solidFill>
                <a:latin typeface="Consolas"/>
                <a:ea typeface="Consolas"/>
                <a:cs typeface="Consolas"/>
              </a:rPr>
              <a:t>GENERIC CONTRACT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59BDA-371D-4005-8053-E12F2AF5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4095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6F8FA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6F8FA"/>
                </a:solidFill>
                <a:latin typeface="Consolas"/>
                <a:ea typeface="Consolas"/>
                <a:cs typeface="Consolas"/>
              </a:rPr>
              <a:t>interface KeyedIndex&lt;K, V&gt; {</a:t>
            </a:r>
          </a:p>
          <a:p xmlns:a="http://schemas.openxmlformats.org/drawingml/2006/main">
            <a:pPr algn="l">
              <a:defRPr sz="1650" b="0" i="0">
                <a:solidFill>
                  <a:srgbClr val="F6F8FA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6F8FA"/>
                </a:solidFill>
                <a:latin typeface="Consolas"/>
                <a:ea typeface="Consolas"/>
                <a:cs typeface="Consolas"/>
              </a:rPr>
              <a:t>  void put(K key, V value);</a:t>
            </a:r>
          </a:p>
          <a:p xmlns:a="http://schemas.openxmlformats.org/drawingml/2006/main">
            <a:pPr algn="l">
              <a:defRPr sz="1650" b="0" i="0">
                <a:solidFill>
                  <a:srgbClr val="F6F8FA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6F8FA"/>
                </a:solidFill>
                <a:latin typeface="Consolas"/>
                <a:ea typeface="Consolas"/>
                <a:cs typeface="Consolas"/>
              </a:rPr>
              <a:t>  V get(K key);</a:t>
            </a:r>
          </a:p>
          <a:p xmlns:a="http://schemas.openxmlformats.org/drawingml/2006/main">
            <a:pPr algn="l">
              <a:defRPr sz="1650" b="0" i="0">
                <a:solidFill>
                  <a:srgbClr val="F6F8FA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6F8FA"/>
                </a:solidFill>
                <a:latin typeface="Consolas"/>
                <a:ea typeface="Consolas"/>
                <a:cs typeface="Consolas"/>
              </a:rPr>
              <a:t>  V remove(K key);</a:t>
            </a:r>
          </a:p>
          <a:p xmlns:a="http://schemas.openxmlformats.org/drawingml/2006/main">
            <a:pPr algn="l">
              <a:defRPr sz="1650" b="0" i="0">
                <a:solidFill>
                  <a:srgbClr val="F6F8FA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6F8FA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 i="0">
                <a:solidFill>
                  <a:srgbClr val="F6F8FA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6F8FA"/>
                </a:solidFill>
                <a:latin typeface="Consolas"/>
                <a:ea typeface="Consolas"/>
                <a:cs typeface="Consolas"/>
              </a:rPr>
              <a:t>AVLTree&lt;K,V&gt;  HashTable&lt;K,V&gt;</a:t>
            </a:r>
          </a:p>
          <a:p xmlns:a="http://schemas.openxmlformats.org/drawingml/2006/main">
            <a:pPr algn="l">
              <a:defRPr sz="1650" b="0" i="0">
                <a:solidFill>
                  <a:srgbClr val="F6F8FA"/>
                </a:solidFill>
                <a:latin typeface="Consolas"/>
                <a:ea typeface="Consolas"/>
                <a:cs typeface="Consolas"/>
              </a:defRPr>
            </a:pPr>
            <a:r>
              <a:rPr sz="1650" b="0" i="0">
                <a:solidFill>
                  <a:srgbClr val="F6F8FA"/>
                </a:solidFill>
                <a:latin typeface="Consolas"/>
                <a:ea typeface="Consolas"/>
                <a:cs typeface="Consolas"/>
              </a:rPr>
              <a:t>Graph&lt;T&gt;      Queue&lt;T&gt;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39129F-5F55-4F2C-8216-C598A034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CORE ENGINE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30405-A0F4-4DD2-A68E-B87D2ACF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No ArrayList, HashMap, TreeMap, or other java.util collection implementations inside the algorithm engine.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77470-02A5-45F8-AA5C-9F50D517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1FFDD-F30E-4FD5-97B3-F36707D2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Primitive arrays in hot paths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6FAA1-E523-4225-A1F7-5B3B9C94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67F13-FD99-4D0A-A005-03484E88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Cached normalization and fingerprints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49C301-3565-4BEC-B508-5393B586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01D5D-003A-4E7E-9BE1-59DF5120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243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Rolling DP rows and threshold exits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8AD98-177B-4E62-9C0B-E50A0971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077B9-42FE-4B2B-87AA-A0342EE2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196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Candidate pruning before full verification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69A861-CBE4-4010-BFD5-2404623F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00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9A86F7-56FA-4C9F-91F3-47A0B17F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14950"/>
            <a:ext cx="510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Bounded workers and deterministic merge</a:t>
            </a:r>
          </a:p>
        </p:txBody>
      </p:sp>
    </p:spTree>
    <p:extLst>
      <p:ext uri="{BB962C8B-B14F-4D97-AF65-F5344CB8AC3E}">
        <p14:creationId xmlns:p14="http://schemas.microsoft.com/office/powerpoint/2010/main" val="20712106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0A924F-9D9E-479F-9515-4A36107B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5-title">
            <a:extLst xmlns:a="http://schemas.openxmlformats.org/drawingml/2006/main">
              <a:ext uri="{FF2B5EF4-FFF2-40B4-BE49-F238E27FC236}">
                <a16:creationId xmlns:a16="http://schemas.microsoft.com/office/drawing/2014/main" id="{0D5166FE-6B43-454E-BA70-8F6E81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Each document passes through seven deterministic stages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1CEEB-137F-487A-8026-AC04E8EE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A5922A-4B92-41C3-9BD5-8A4A08EC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1D098-7690-4AD4-A7FE-197F7CC2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A4BCE-F572-43D5-823C-2A994707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5527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92236-822F-4577-B33D-56B16049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5527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A6665-0A1E-4C26-AD38-7659F53D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5270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02A6D-DA96-43A7-A173-9C7EBAB6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910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B3C5F-84E3-4C17-AF03-E8A50E54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EF916C-CF64-48FE-B826-6E6812EC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333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C3B38-780B-462F-B42E-85CF7B8F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C2EB3-60B7-49DE-814D-2F1B5E3E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9D622-45F9-471A-BB95-DF94F4C5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Corpus + settings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C6C397-9094-4FBD-B52E-5D25A1E0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66900"/>
            <a:ext cx="2333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1EA3E4-3ACF-45B7-86AC-FF6907E8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6656E7-EE72-4BD5-8FA0-4B1C82B4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90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151612-C34D-48D3-923E-6B14B061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Files + metadata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BEA4C8-8D8F-443B-89DC-F3399B07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66900"/>
            <a:ext cx="2333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9310E8-95BA-4803-8C3B-9F7487EE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8C694-39A3-4D90-B12E-44A0C057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90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FF8CB2-F3F8-4906-8925-75018639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Clean + tokenize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CBDB5C-E608-400C-9ED0-A20F9187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66900"/>
            <a:ext cx="2333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7DFADD-1667-41B8-BE98-48500B94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38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DD4BCE-07E1-4EE9-B419-946B4944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90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99D6FF-483B-45EE-9B31-A910114B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Shingles + trees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0C40E6-3CCA-4149-9B17-095BB830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05250"/>
            <a:ext cx="2333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0B04DB-1655-4039-966F-3C22D855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76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812B99-283B-4F9C-BC41-773A2F4F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291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SHORTLIST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10167D-5D97-42E4-8795-0E89E5A3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95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Candidate pairs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BAE206-F47C-45D2-A4E9-E36B415D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905250"/>
            <a:ext cx="2333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D5C2BE-7270-463E-8188-FC1D4E3B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76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6D2FEA-D633-4E22-A83E-5B19DF20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291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24DEA0-3E13-4672-ACCC-79CDA2B5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95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Evidence + score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AB57FD-2D37-4AD3-AE31-D9D0FE82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3905250"/>
            <a:ext cx="2333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3F69F6-926E-4573-8B6E-56BA815E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76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9A7EC0-124C-402F-949F-8527FC90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291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DELIVER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1FCB88-B18B-4126-979C-30D93EFC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95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Rank, assign, export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9037B8-F1D5-4E84-B127-CBCE109A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619750"/>
            <a:ext cx="7858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E59D3D-92F9-4457-B4C9-127B0235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724525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Failed gate → recover safely, record the error, and keep the remaining batch usable.</a:t>
            </a:r>
          </a:p>
        </p:txBody>
      </p:sp>
    </p:spTree>
    <p:extLst>
      <p:ext uri="{BB962C8B-B14F-4D97-AF65-F5344CB8AC3E}">
        <p14:creationId xmlns:p14="http://schemas.microsoft.com/office/powerpoint/2010/main" val="14870613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1B51D-325D-4BFE-90B4-427D1C97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6-title">
            <a:extLst xmlns:a="http://schemas.openxmlformats.org/drawingml/2006/main">
              <a:ext uri="{FF2B5EF4-FFF2-40B4-BE49-F238E27FC236}">
                <a16:creationId xmlns:a16="http://schemas.microsoft.com/office/drawing/2014/main" id="{CB6B6A64-711F-4A75-8AA6-4A4594C6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Scores linked to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C1F87-FF92-42FE-AD1E-E60C8CCC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SAMPLE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EBD11-62B1-4BFD-9FDD-9AD72089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E40E4-A001-4D4D-B8CE-223B3389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346DF-1693-434F-ACE1-656C0394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1D7E0-792C-40B4-B0A2-DAC35525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B83A4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B83A45"/>
                </a:solidFill>
                <a:latin typeface="Arial"/>
                <a:ea typeface="Arial"/>
                <a:cs typeface="Arial"/>
              </a:rPr>
              <a:t>ILLUSTRATIVE TEST FIXTURE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7DF61C-F4CA-42A6-8002-EF5FF04A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4825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35A7F-68C1-4EF5-9ED3-86CF64AB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955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CASE PD-017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A4F5C-E5D7-4335-A76F-63F6113C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193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600" b="1" i="0">
                <a:solidFill>
                  <a:srgbClr val="B83A45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B83A45"/>
                </a:solidFill>
                <a:latin typeface="Arial"/>
                <a:ea typeface="Arial"/>
                <a:cs typeface="Arial"/>
              </a:rPr>
              <a:t>73 / 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AAC8F7-8C40-4200-9D17-F68EE749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479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B83A4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B83A45"/>
                </a:solidFill>
                <a:latin typeface="Arial"/>
                <a:ea typeface="Arial"/>
                <a:cs typeface="Arial"/>
              </a:rPr>
              <a:t>HIGH REVIEW PRIORITY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F1A27-07B0-48DE-BDDB-B362F126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EE3E18-94FB-491F-A021-1FCFD1B0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13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13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Submission_017.txt  ↔  Reference_003.txt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90240-DA50-4D90-9D41-7EF4821D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4333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EC3D8-3A66-408B-9E74-1C16DB24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3857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Matched evidence</a:t>
            </a:r>
          </a:p>
          <a:p xmlns:a="http://schemas.openxmlformats.org/drawingml/2006/main">
            <a:pPr algn="l">
              <a:defRPr sz="165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S017 lines 12-16  ↔  R003 lines 44-48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DE4A8D-93C6-4378-9DEE-07A0DBA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95875"/>
            <a:ext cx="433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Assigned reviewer: R2  •  Report: reports/PD-017.txt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286500" y="1952625"/>
          <a:ext xmlns:a="http://schemas.openxmlformats.org/drawingml/2006/main" cx="5143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38820af71e24496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1A185-9B84-44D9-857D-07AFC3F2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292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4B5563"/>
                </a:solidFill>
                <a:latin typeface="Arial"/>
                <a:ea typeface="Arial"/>
                <a:cs typeface="Arial"/>
              </a:rPr>
              <a:t>Example values only — replace with measured prototype results after testing.</a:t>
            </a:r>
          </a:p>
        </p:txBody>
      </p:sp>
    </p:spTree>
    <p:extLst>
      <p:ext uri="{BB962C8B-B14F-4D97-AF65-F5344CB8AC3E}">
        <p14:creationId xmlns:p14="http://schemas.microsoft.com/office/powerpoint/2010/main" val="17242276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72A4F-DD5F-4E63-B652-391D0A9A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7-title">
            <a:extLst xmlns:a="http://schemas.openxmlformats.org/drawingml/2006/main">
              <a:ext uri="{FF2B5EF4-FFF2-40B4-BE49-F238E27FC236}">
                <a16:creationId xmlns:a16="http://schemas.microsoft.com/office/drawing/2014/main" id="{11846B01-8BA1-44DB-A5A0-476376B5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Five members own distinct modules with shared integration duties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0F201-4BF8-4510-99AB-BC4F3C80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A5094-3A31-464C-AF94-DDED3B21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DE8CA5-8BEA-464E-86D1-3402E516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1524000"/>
          <a:ext xmlns:a="http://schemas.openxmlformats.org/drawingml/2006/main" cx="113919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667000"/>
                <a:gridCol w="4000500"/>
                <a:gridCol w="3295650"/>
              </a:tblGrid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Member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Primary ownership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Algorithms / structures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deliverable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Member 1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Ingestion &amp; reliability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File I/O, validation, exceptions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Reliable corpus pipeline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Member 2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Structures &amp; indexing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Generic AVL, B+, Segment, BIT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Index library + invariants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Member 3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Detection engine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KMP, RK, LCS, edit, alignment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Evidence matching engine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Member 4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Scalable analytics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MinHash, graph, parallelism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Candidate + cluster analytics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Member 5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Review &amp; delivery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Max flow, greedy cover, reports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Assignment + integration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EA6E2-CC01-4A2B-88BF-8A82ED31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6262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Shared: peer review • integration tests • documentation • test corpus • final demo • viva preparation</a:t>
            </a:r>
          </a:p>
        </p:txBody>
      </p:sp>
    </p:spTree>
    <p:extLst>
      <p:ext uri="{BB962C8B-B14F-4D97-AF65-F5344CB8AC3E}">
        <p14:creationId xmlns:p14="http://schemas.microsoft.com/office/powerpoint/2010/main" val="12933600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7E047-E8A8-4C6C-99E6-44146AB5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8-title">
            <a:extLst xmlns:a="http://schemas.openxmlformats.org/drawingml/2006/main">
              <a:ext uri="{FF2B5EF4-FFF2-40B4-BE49-F238E27FC236}">
                <a16:creationId xmlns:a16="http://schemas.microsoft.com/office/drawing/2014/main" id="{38D00AE7-9836-40DF-BFAC-0035E8DF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Feasibility risks have defined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1846F-413F-4778-8C22-B8902B50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FEASIBILITY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A04D2-38F8-49B1-BDFF-7067D7CC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4898CD-AF61-48CC-A67A-BB69E21E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8311E1-B67A-4DC6-B79F-E6B53E69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Local Java • text-first corpus • no paid API dependency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5918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6625"/>
                <a:gridCol w="7115175"/>
              </a:tblGrid>
              <a:tr h="57830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11318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Quadratic pair growth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MinHash shortlist, pruning, and configurable thresholds</a:t>
                      </a:r>
                    </a:p>
                  </a:txBody>
                  <a:tcPr marL="91440" marR="91440" marT="45720" marB="45720"/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DP time and memory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Passage windows, rolling rows, and early exits</a:t>
                      </a:r>
                    </a:p>
                  </a:txBody>
                  <a:tcPr marL="91440" marR="91440" marT="45720" marB="45720"/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Invalid or corrupt files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Validation, quarantine/recovery path, and logs</a:t>
                      </a:r>
                    </a:p>
                  </a:txBody>
                  <a:tcPr marL="91440" marR="91440" marT="45720" marB="45720"/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Custom-structure defects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Invariant tests after rotations, deletes, splits, and updates</a:t>
                      </a:r>
                    </a:p>
                  </a:txBody>
                  <a:tcPr marL="91440" marR="91440" marT="45720" marB="45720"/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Parallel race conditions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Immutable inputs and deterministic result merge</a:t>
                      </a:r>
                    </a:p>
                  </a:txBody>
                  <a:tcPr marL="91440" marR="91440" marT="45720" marB="45720"/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Integration delay</a:t>
                      </a:r>
                    </a:p>
                  </a:txBody>
                  <a:tcPr marL="91440" marR="91440" marT="45720" marB="4572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11318"/>
                          </a:solidFill>
                          <a:latin typeface="Arial"/>
                          <a:ea typeface="Arial"/>
                          <a:cs typeface="Arial"/>
                        </a:rPr>
                        <a:t>Stable interfaces and staged milestones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5577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6FB85-E1FC-4435-BE61-489F8B18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19-title">
            <a:extLst xmlns:a="http://schemas.openxmlformats.org/drawingml/2006/main">
              <a:ext uri="{FF2B5EF4-FFF2-40B4-BE49-F238E27FC236}">
                <a16:creationId xmlns:a16="http://schemas.microsoft.com/office/drawing/2014/main" id="{70F2310F-AEAD-4300-9367-E876BBD2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Success is measured in software behavior and algorithm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4F6B2-C585-4EFF-81A9-7D63D0AA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EXPECTED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8E9D6-22FD-4F32-8F35-FF98E2B3B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4F71DC-5926-403F-846A-12363A32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8238E-76A3-471F-8B4B-886A48D4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B8D8AA-D697-4589-9867-3D2C49CE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2714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WORKING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69288-8E5B-4335-B9F3-7065CB7C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Repeatable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98823-1908-4696-8FB2-B71C7C0F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875"/>
            <a:ext cx="2714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Batch ingestion, reliable recovery, ranking, assignment, and report export.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9DD8E-78BC-4B0F-87B0-A611F734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47875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03F62-FDB5-4BE3-98B1-7163350A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2714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VISIBLE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F085B-9F9E-4C33-9770-02C52ED1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861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Explainable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43B90-87F7-479E-9B13-2B6D466B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52875"/>
            <a:ext cx="2714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Matched passages, source positions, match types, and score components.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C0795-1851-48A2-8259-BF210A72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47875"/>
            <a:ext cx="3238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5BB6C-6002-4847-953A-F8A44C40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81250"/>
            <a:ext cx="2714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MEASURED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FE591-C783-4E63-9367-33D50F89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86125"/>
            <a:ext cx="271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Algorithm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69CFA9-D0AC-4979-BA8C-1A5AB3E3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52875"/>
            <a:ext cx="2714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BST vs AVL, sequential vs parallel, runtime, memory, and candidate reduction.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3AD9D-DE21-46FF-993F-A291D73C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500" b="0" i="1">
                <a:solidFill>
                  <a:srgbClr val="4B5563"/>
                </a:solidFill>
                <a:latin typeface="Arial"/>
                <a:ea typeface="Arial"/>
                <a:cs typeface="Arial"/>
              </a:rPr>
              <a:t>These are evaluation criteria until the completed prototype generates benchmark data.</a:t>
            </a:r>
          </a:p>
        </p:txBody>
      </p:sp>
    </p:spTree>
    <p:extLst>
      <p:ext uri="{BB962C8B-B14F-4D97-AF65-F5344CB8AC3E}">
        <p14:creationId xmlns:p14="http://schemas.microsoft.com/office/powerpoint/2010/main" val="7160071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4495F0-FB1A-4977-B554-ACCBE263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0050"/>
            <a:ext cx="76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20-title">
            <a:extLst xmlns:a="http://schemas.openxmlformats.org/drawingml/2006/main">
              <a:ext uri="{FF2B5EF4-FFF2-40B4-BE49-F238E27FC236}">
                <a16:creationId xmlns:a16="http://schemas.microsoft.com/office/drawing/2014/main" id="{85124E96-9616-4760-AD6F-08B2DE37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953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Future versions can extend beyond lexical document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E4854-0EFE-422B-97FF-962225AB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FUTURE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85BD4-984E-4698-B60C-65F89AEC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286500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9F7C45-15D5-498F-96C0-C0A22045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67B67-BACE-4790-AF37-1A596B6F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8FE1F-080C-4557-979F-9F8C223D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38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359DC-6A76-4E36-964D-4295566F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8104D-40C0-4544-82A9-633C0FDA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More formats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C292F-9444-4A4A-9534-59B895D9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271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PDF/DOCX ingestion, OCR, and source-code token comparison.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55B52-54FB-48EF-AB6A-92A3961B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B808A-858D-4CE2-B289-F68E829E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238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051FB-1500-40D1-852D-466DDB66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95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LATER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3E19F-3859-44CA-9FBC-F8449D70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146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Richer meaning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F6AA4-0020-4CAF-9EBB-AA3AA625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76625"/>
            <a:ext cx="271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Multilingual normalization and a separate semantic paraphrase layer.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53B0E-C402-403E-B6CE-E78FE6A0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95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8C412-9C3D-47B6-95B5-74407E8C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09750"/>
            <a:ext cx="32385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DF373F-EFC3-414C-AA2E-E230A8A9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5A469-7A4A-4E5C-A066-1A56D0EC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14625"/>
            <a:ext cx="271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Institutional scale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F7C67F-B91D-4630-B1A7-9A8A6EE0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2714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Distributed indexing, access control, encryption, and privacy safeguards.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75BED-DB04-4FE2-A829-29CF3613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95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9046774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B71B9-53A7-447B-A846-AF202FDC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5B860-C8E0-450C-A06C-A107C898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287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DSA theory becomes an</a:t>
            </a:r>
          </a:p>
          <a:p xmlns:a="http://schemas.openxmlformats.org/drawingml/2006/main">
            <a:pPr algn="l">
              <a:defRPr sz="4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accountable academic-review</a:t>
            </a:r>
          </a:p>
          <a:p xmlns:a="http://schemas.openxmlformats.org/drawingml/2006/main">
            <a:pPr algn="l">
              <a:defRPr sz="49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38E62-5C51-4FF0-8992-7A65EADE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619625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Efficient  •  Explainable  •  Responsible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17EF7-ACC0-4CA5-B634-EA00821F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334000"/>
            <a:ext cx="895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4B5563"/>
                </a:solidFill>
                <a:latin typeface="Arial"/>
                <a:ea typeface="Arial"/>
                <a:cs typeface="Arial"/>
              </a:rPr>
              <a:t>Every selected algorithm has a visible, measurable system role — while human review remains central.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1981A-D7A4-4256-AD02-B78C229A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096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19811539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2026-08-05T03:54:59.3490000Z</dcterms:created>
  <dcterms:modified xsi:type="dcterms:W3CDTF">2026-08-05T03:54:59.3490000Z</dcterms:modified>
</coreProperties>
</file>